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8" r:id="rId3"/>
    <p:sldId id="260" r:id="rId4"/>
    <p:sldId id="261" r:id="rId5"/>
    <p:sldId id="266" r:id="rId6"/>
    <p:sldId id="262" r:id="rId7"/>
    <p:sldId id="264" r:id="rId8"/>
    <p:sldId id="267" r:id="rId9"/>
    <p:sldId id="278" r:id="rId10"/>
    <p:sldId id="269" r:id="rId11"/>
    <p:sldId id="271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-456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274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934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385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938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788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108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619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17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55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175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629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03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63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249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967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6465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568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11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0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7164-EBA9-951B-13F7-A081EF90F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3277" y="800100"/>
            <a:ext cx="8574622" cy="1235483"/>
          </a:xfrm>
        </p:spPr>
        <p:txBody>
          <a:bodyPr>
            <a:normAutofit/>
          </a:bodyPr>
          <a:lstStyle/>
          <a:p>
            <a:pPr algn="ctr"/>
            <a:r>
              <a:rPr lang="en-IN" sz="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E-Commerce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A82AB6-927E-7F7B-5EEA-9C6A97043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0461" y="2387276"/>
            <a:ext cx="9374516" cy="1388534"/>
          </a:xfrm>
        </p:spPr>
        <p:txBody>
          <a:bodyPr>
            <a:noAutofit/>
          </a:bodyPr>
          <a:lstStyle/>
          <a:p>
            <a:pPr algn="ctr"/>
            <a:r>
              <a:rPr lang="en-IN" sz="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Name : </a:t>
            </a:r>
            <a:r>
              <a:rPr lang="en-IN" sz="5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Olist</a:t>
            </a:r>
            <a:r>
              <a:rPr lang="en-IN" sz="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Store Analysis</a:t>
            </a:r>
          </a:p>
          <a:p>
            <a:endParaRPr lang="en-IN" sz="5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542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EC7BB-6140-EE5E-B391-2364FC786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3987" y="-18166"/>
            <a:ext cx="5411411" cy="1639884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5DBE5C8-5973-DA27-D4A9-5429BC349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1308" y="2544029"/>
            <a:ext cx="6032256" cy="383934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DA1A00-E175-14A3-1239-C1850F2DE4BD}"/>
              </a:ext>
            </a:extLst>
          </p:cNvPr>
          <p:cNvSpPr txBox="1"/>
          <p:nvPr/>
        </p:nvSpPr>
        <p:spPr>
          <a:xfrm>
            <a:off x="1146705" y="2544029"/>
            <a:ext cx="494929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>
              <a:lnSpc>
                <a:spcPct val="200000"/>
              </a:lnSpc>
              <a:spcBef>
                <a:spcPts val="0"/>
              </a:spcBef>
              <a:buSzTx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1️⃣ KPI Overview</a:t>
            </a:r>
          </a:p>
          <a:p>
            <a:pPr hangingPunct="0">
              <a:lnSpc>
                <a:spcPct val="200000"/>
              </a:lnSpc>
              <a:spcBef>
                <a:spcPts val="0"/>
              </a:spcBef>
              <a:buSzTx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2️⃣ Chart-wise Insights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3️⃣ Observations &amp; Key Findings</a:t>
            </a:r>
          </a:p>
          <a:p>
            <a:pPr hangingPunct="0">
              <a:lnSpc>
                <a:spcPct val="200000"/>
              </a:lnSpc>
              <a:spcBef>
                <a:spcPts val="0"/>
              </a:spcBef>
              <a:buSzTx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4️⃣ Improvement Areas &amp; Action Plan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593874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EA25E-0D6D-82C6-C0CC-2AC90C78A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668" y="562708"/>
            <a:ext cx="10018713" cy="175259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CREATING THIS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B1A77-113C-61D9-E0C1-4F1231987694}"/>
              </a:ext>
            </a:extLst>
          </p:cNvPr>
          <p:cNvSpPr txBox="1"/>
          <p:nvPr/>
        </p:nvSpPr>
        <p:spPr>
          <a:xfrm>
            <a:off x="1653383" y="2992315"/>
            <a:ext cx="9905998" cy="2370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monitor key business performance indicators in one place.</a:t>
            </a:r>
          </a:p>
          <a:p>
            <a:pPr marL="800100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top-selling categories and high-value customer segments.</a:t>
            </a:r>
          </a:p>
          <a:p>
            <a:pPr marL="800100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understand delivery efficiency and review performance.</a:t>
            </a:r>
          </a:p>
          <a:p>
            <a:pPr marL="800100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support data-driven decisions for sales growth and operations improvement.</a:t>
            </a:r>
            <a:endParaRPr lang="en-IN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528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D2478-DF2A-D5CC-D6F9-100AA6252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1692" y="420224"/>
            <a:ext cx="7190153" cy="450383"/>
          </a:xfr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A971F-9862-C2C5-165F-90AFA87198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51985" y="1658143"/>
            <a:ext cx="4878389" cy="3541714"/>
          </a:xfrm>
          <a:solidFill>
            <a:schemeClr val="accent3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Value – 16.47M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Price – 12.94M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Deliveries – 1.31M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Profit – 3.53M</a:t>
            </a: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885AE-2B2D-3954-5E88-79D0E90D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5371" y="1658143"/>
            <a:ext cx="5449529" cy="3541714"/>
          </a:xfrm>
          <a:solidFill>
            <a:schemeClr val="accent3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sales volume achieved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order revenue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operations are active &amp; scaled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generating good profit margin</a:t>
            </a:r>
          </a:p>
          <a:p>
            <a:pPr marL="0" indent="0" algn="ctr">
              <a:buNone/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AEACEF-74E8-F283-596C-FC681EF054FD}"/>
              </a:ext>
            </a:extLst>
          </p:cNvPr>
          <p:cNvCxnSpPr>
            <a:cxnSpLocks/>
          </p:cNvCxnSpPr>
          <p:nvPr/>
        </p:nvCxnSpPr>
        <p:spPr>
          <a:xfrm>
            <a:off x="939636" y="2185835"/>
            <a:ext cx="10327918" cy="0"/>
          </a:xfrm>
          <a:prstGeom prst="line">
            <a:avLst/>
          </a:prstGeom>
          <a:ln>
            <a:noFill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9C3B8E4-1A3E-F489-F4DA-B0FCBB6B0ADF}"/>
              </a:ext>
            </a:extLst>
          </p:cNvPr>
          <p:cNvSpPr txBox="1"/>
          <p:nvPr/>
        </p:nvSpPr>
        <p:spPr>
          <a:xfrm>
            <a:off x="2161212" y="5342828"/>
            <a:ext cx="9714271" cy="76944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 Conclusion: The business is </a:t>
            </a:r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financially strong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but improving efficiency could increase profits further.</a:t>
            </a:r>
            <a:endParaRPr lang="en-IN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32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D856A15-CA28-E739-53C4-769305C97A14}"/>
              </a:ext>
            </a:extLst>
          </p:cNvPr>
          <p:cNvSpPr txBox="1">
            <a:spLocks/>
          </p:cNvSpPr>
          <p:nvPr/>
        </p:nvSpPr>
        <p:spPr>
          <a:xfrm>
            <a:off x="1259877" y="388817"/>
            <a:ext cx="10565777" cy="478629"/>
          </a:xfrm>
          <a:prstGeom prst="rect">
            <a:avLst/>
          </a:prstGeom>
          <a:noFill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Weekend vs Weekday Orders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5FA88486-6560-CEA8-5896-F0F8DC30D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10" y="1343787"/>
            <a:ext cx="5348475" cy="2062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Weekdays = 77% of orders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Weekend orders only 23%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customers are more active during weekdays.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BF5CD9-64FD-1A31-91F5-6710060018E5}"/>
              </a:ext>
            </a:extLst>
          </p:cNvPr>
          <p:cNvSpPr txBox="1"/>
          <p:nvPr/>
        </p:nvSpPr>
        <p:spPr>
          <a:xfrm>
            <a:off x="2173254" y="4070216"/>
            <a:ext cx="9555684" cy="257070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weekend-specific discount campaigns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increase weekend traffic.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 sales on Saturdays/Sundays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balance the weekly distribution.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notifications and targeted ads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weekends to increase engagement.</a:t>
            </a:r>
          </a:p>
          <a:p>
            <a:pPr>
              <a:lnSpc>
                <a:spcPct val="150000"/>
              </a:lnSpc>
            </a:pPr>
            <a:endParaRPr lang="en-IN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3C2A482-32CE-9F15-A7B2-170C755DD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454" y="1149232"/>
            <a:ext cx="3556875" cy="278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5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0143D-2814-EF76-4327-EAAA37E4C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708" y="285985"/>
            <a:ext cx="10088684" cy="532446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SCORE BY PAYMENT TYPE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AF73DE2C-D90A-1083-7412-3A132AD87A4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35524" y="1465420"/>
            <a:ext cx="7940260" cy="25707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reviews come from Card &amp;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payments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Indicates customers prefer trusted and easy payment methods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credit card users often give higher satisfaction ratings.</a:t>
            </a:r>
            <a:endParaRPr kumimoji="0" lang="en-US" altLang="en-US" sz="22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Cash-based payment users provide fewer reviews → less feedback insight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80CDF1-AF18-25B6-EB92-83ED62DAF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784" y="1465420"/>
            <a:ext cx="3109669" cy="27470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BC63BF-7D7B-9142-BD61-EC0CFCF262E0}"/>
              </a:ext>
            </a:extLst>
          </p:cNvPr>
          <p:cNvSpPr txBox="1"/>
          <p:nvPr/>
        </p:nvSpPr>
        <p:spPr>
          <a:xfrm>
            <a:off x="1578708" y="4516060"/>
            <a:ext cx="10088684" cy="14465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Suggestion: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secure and fast credit card checkout.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reward points or EMI options for credit-card users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94787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AE4DF-EE17-C267-BE16-12DB7421B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161" y="371919"/>
            <a:ext cx="10354408" cy="580105"/>
          </a:xfr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DELIVERY DAYS FOR PET SHOP CATEGORY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2946F2CA-D690-7078-7716-6DD38AED346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812133" y="1473871"/>
            <a:ext cx="5986643" cy="30785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pet_shop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has the longest delivery time at 11 days, much higher than other categories.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a logistics delay—possibly due to stock issues or slower supplier dispatch.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Longer delivery impacts customer satisfaction and review scores.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676BFB3-E867-238F-456C-575FC7FEA9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875951" y="1473871"/>
            <a:ext cx="4122617" cy="348499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05A8BD-AEB9-D0B4-672C-56C45512751C}"/>
              </a:ext>
            </a:extLst>
          </p:cNvPr>
          <p:cNvSpPr txBox="1"/>
          <p:nvPr/>
        </p:nvSpPr>
        <p:spPr>
          <a:xfrm>
            <a:off x="2290347" y="5074253"/>
            <a:ext cx="9708221" cy="14465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 Bottleneck identified → Improve logistics in pet category to boost satisfaction.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Partner with faster logistics providers for this category.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 buffer stock for frequently purchased pet items.</a:t>
            </a: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323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0232A6-061A-DA88-AF47-0E978ABCA48E}"/>
              </a:ext>
            </a:extLst>
          </p:cNvPr>
          <p:cNvSpPr txBox="1"/>
          <p:nvPr/>
        </p:nvSpPr>
        <p:spPr>
          <a:xfrm>
            <a:off x="2664067" y="46842"/>
            <a:ext cx="7015193" cy="707886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 Payment &amp; Price by City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A42A27-75E0-13E7-5A22-799B2E93E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662" y="1124255"/>
            <a:ext cx="3907728" cy="4094198"/>
          </a:xfrm>
          <a:prstGeom prst="rect">
            <a:avLst/>
          </a:prstGeom>
        </p:spPr>
      </p:pic>
      <p:sp>
        <p:nvSpPr>
          <p:cNvPr id="17" name="Rectangle 4">
            <a:extLst>
              <a:ext uri="{FF2B5EF4-FFF2-40B4-BE49-F238E27FC236}">
                <a16:creationId xmlns:a16="http://schemas.microsoft.com/office/drawing/2014/main" id="{6CD8A92F-B717-4C97-7B4B-534053ABF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427" y="1124255"/>
            <a:ext cx="6559235" cy="40941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São Paulo customers pay the highest average order value, showing strong spending capability.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Indicates a high-value customer segment that should be prioritized in marketing and retention.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spending may reflect better product availability or stronger brand trust in this region.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cities show lower averages, revealing potential markets for targeted promotions.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9C9B6B-450C-9523-549B-0A198E3D283C}"/>
              </a:ext>
            </a:extLst>
          </p:cNvPr>
          <p:cNvSpPr txBox="1"/>
          <p:nvPr/>
        </p:nvSpPr>
        <p:spPr>
          <a:xfrm>
            <a:off x="2169502" y="5587980"/>
            <a:ext cx="9383590" cy="11079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Suggestions:-Retain high-value customers with loyalty programs.</a:t>
            </a:r>
            <a:endParaRPr kumimoji="0" lang="en-US" altLang="en-US" sz="22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 premium delivery options since high-value buyers prefer convenience.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 personalized product bundles for customers in this region.</a:t>
            </a:r>
          </a:p>
        </p:txBody>
      </p:sp>
    </p:spTree>
    <p:extLst>
      <p:ext uri="{BB962C8B-B14F-4D97-AF65-F5344CB8AC3E}">
        <p14:creationId xmlns:p14="http://schemas.microsoft.com/office/powerpoint/2010/main" val="4260544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A3492-743C-870E-13B2-2150B27D2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CD10385-23FB-FC24-250F-5D7AAB0B5A1D}"/>
              </a:ext>
            </a:extLst>
          </p:cNvPr>
          <p:cNvSpPr txBox="1"/>
          <p:nvPr/>
        </p:nvSpPr>
        <p:spPr>
          <a:xfrm>
            <a:off x="2494191" y="112046"/>
            <a:ext cx="9338252" cy="707886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DAYS VS REVIEW SCORE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C047AF-7653-A966-8501-9790BF703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772" y="1275957"/>
            <a:ext cx="4752671" cy="3168705"/>
          </a:xfrm>
          <a:prstGeom prst="rect">
            <a:avLst/>
          </a:prstGeom>
        </p:spPr>
      </p:pic>
      <p:sp>
        <p:nvSpPr>
          <p:cNvPr id="19" name="Rectangle 6">
            <a:extLst>
              <a:ext uri="{FF2B5EF4-FFF2-40B4-BE49-F238E27FC236}">
                <a16:creationId xmlns:a16="http://schemas.microsoft.com/office/drawing/2014/main" id="{E0B18ECC-0F32-5DED-8FC9-16D10BF55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6197" y="1366127"/>
            <a:ext cx="5476443" cy="30785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delivery (1–3 days) receives consistently higher review scores.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Delays above 5 days lead to noticeable drops in customer ratings.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a clear link: delivery speed directly influences customer satisfaction.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D015FC-C53B-2EA7-5DAB-682F38E26AC3}"/>
              </a:ext>
            </a:extLst>
          </p:cNvPr>
          <p:cNvSpPr txBox="1"/>
          <p:nvPr/>
        </p:nvSpPr>
        <p:spPr>
          <a:xfrm>
            <a:off x="3285071" y="4599321"/>
            <a:ext cx="8547372" cy="17851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📌Suggestions:-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delivery delays by improving warehouse-to-customer routing.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shipment tracking to reassure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customers with expected delivery dates and delay notifications.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 priority shipping for urgent orders.</a:t>
            </a:r>
          </a:p>
        </p:txBody>
      </p:sp>
    </p:spTree>
    <p:extLst>
      <p:ext uri="{BB962C8B-B14F-4D97-AF65-F5344CB8AC3E}">
        <p14:creationId xmlns:p14="http://schemas.microsoft.com/office/powerpoint/2010/main" val="3862597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C6E4-4DCC-6FDB-305C-E17A1BB81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F7D37-9900-9E3A-B23A-B61A0F28A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7713" y="215080"/>
            <a:ext cx="9905955" cy="457202"/>
          </a:xfr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PLAN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1056C2A-688D-1DEA-FE8C-CBA9E16B82E1}"/>
              </a:ext>
            </a:extLst>
          </p:cNvPr>
          <p:cNvSpPr/>
          <p:nvPr/>
        </p:nvSpPr>
        <p:spPr>
          <a:xfrm>
            <a:off x="5789633" y="3242187"/>
            <a:ext cx="462116" cy="37362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20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innerShdw blurRad="63500" dist="50800" dir="108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D3FACC-C64A-6FD2-BCFC-E6CBD6EDF31F}"/>
              </a:ext>
            </a:extLst>
          </p:cNvPr>
          <p:cNvSpPr txBox="1"/>
          <p:nvPr/>
        </p:nvSpPr>
        <p:spPr>
          <a:xfrm>
            <a:off x="830149" y="987768"/>
            <a:ext cx="4879045" cy="50789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Area of Concern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endParaRPr lang="en-IN" sz="2200" b="1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Slow shipping in pet category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IN" sz="22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Low weekend orders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IN" sz="22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Profit gaps in product categories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IN" sz="22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Limited customer locations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IN" sz="22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Limited review feedback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1E8407-8A68-B910-F974-FEB1DDD53FAC}"/>
              </a:ext>
            </a:extLst>
          </p:cNvPr>
          <p:cNvSpPr txBox="1"/>
          <p:nvPr/>
        </p:nvSpPr>
        <p:spPr>
          <a:xfrm>
            <a:off x="6216998" y="987768"/>
            <a:ext cx="5310986" cy="55983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Suggested Action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endParaRPr lang="en-IN" sz="2200" b="1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Improve logistics: faster couriers, better inventory placement, or local warehouses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IN" sz="22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Launch weekend-only discounts, flash sales, and limited-time offers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22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Re-evaluate pricing, reduce supplier costs, and optimize product mix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IN" sz="22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Run geo-targeted ads and expand marketing in smaller/emerging cities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B6C87C2-271C-4CE5-12AE-A5EF57564C26}"/>
              </a:ext>
            </a:extLst>
          </p:cNvPr>
          <p:cNvCxnSpPr/>
          <p:nvPr/>
        </p:nvCxnSpPr>
        <p:spPr>
          <a:xfrm>
            <a:off x="830149" y="1376516"/>
            <a:ext cx="48790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A399E34-5FD5-2609-A0CE-9E7BB351AC77}"/>
              </a:ext>
            </a:extLst>
          </p:cNvPr>
          <p:cNvCxnSpPr>
            <a:cxnSpLocks/>
          </p:cNvCxnSpPr>
          <p:nvPr/>
        </p:nvCxnSpPr>
        <p:spPr>
          <a:xfrm>
            <a:off x="6251749" y="1376516"/>
            <a:ext cx="53109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922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6422-C6DA-3974-A961-A4F2A6433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851" y="266826"/>
            <a:ext cx="9831560" cy="657622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DA40A6-88AD-8C81-39D3-D39BE159F1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04892" y="1366439"/>
            <a:ext cx="10233321" cy="51098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normalizeH="0" baseline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shows strong revenue, solid profit margins, and a large active customer base, especially in top cities like São Paulo.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normalizeH="0" baseline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speed remains a major factor influencing customer satisfaction, ratings, and repeat purchases.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normalizeH="0" baseline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Expanding market reach beyond dominant cities can unlock new growth opportunities.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normalizeH="0" baseline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improving logistics efficiency and strengthening targeted marketing, the business can achieve higher sales, better customer retention, and overall sustainable growth.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Payment Experience Across All Methods.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Olist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launch weekend-exclusive discounts, flash sales, and targeted ads. This will help balance order volume across the week and increase total revenue.</a:t>
            </a:r>
            <a:endParaRPr kumimoji="0" lang="en-US" altLang="en-US" sz="2200" i="0" u="none" strike="noStrike" normalizeH="0" baseline="0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453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C3E4-C0B8-B699-F14B-6719B1EC2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2625213"/>
            <a:ext cx="8791575" cy="88475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7368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480</TotalTime>
  <Words>693</Words>
  <Application>Microsoft Office PowerPoint</Application>
  <PresentationFormat>Widescreen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Corbel</vt:lpstr>
      <vt:lpstr>Times New Roman</vt:lpstr>
      <vt:lpstr>Wingdings</vt:lpstr>
      <vt:lpstr>Parallax</vt:lpstr>
      <vt:lpstr>Domain : E-Commerce</vt:lpstr>
      <vt:lpstr>AGENDA </vt:lpstr>
      <vt:lpstr>PURPOSE OF CREATING THIS DASHBOARD</vt:lpstr>
      <vt:lpstr>KPIS OVERVIEW</vt:lpstr>
      <vt:lpstr>PowerPoint Presentation</vt:lpstr>
      <vt:lpstr>REVIEW SCORE BY PAYMENT TYPE</vt:lpstr>
      <vt:lpstr>AVERAGE DELIVERY DAYS FOR PET SHOP CATEGORY</vt:lpstr>
      <vt:lpstr>PowerPoint Presentation</vt:lpstr>
      <vt:lpstr>PowerPoint Presentation</vt:lpstr>
      <vt:lpstr>IMPROVEMENT PLAN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Domain : E-Commerce</dc:title>
  <dc:creator>prasun bhattacharya</dc:creator>
  <cp:lastModifiedBy>Rohit</cp:lastModifiedBy>
  <cp:revision>26</cp:revision>
  <dcterms:created xsi:type="dcterms:W3CDTF">2025-12-10T17:15:40Z</dcterms:created>
  <dcterms:modified xsi:type="dcterms:W3CDTF">2026-01-03T12:55:45Z</dcterms:modified>
</cp:coreProperties>
</file>